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5" r:id="rId6"/>
    <p:sldId id="260" r:id="rId7"/>
    <p:sldId id="266" r:id="rId8"/>
    <p:sldId id="267" r:id="rId9"/>
    <p:sldId id="261" r:id="rId10"/>
    <p:sldId id="262" r:id="rId11"/>
    <p:sldId id="263" r:id="rId12"/>
    <p:sldId id="264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3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5489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6718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uxenn1/sisfa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4E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C5C8C"/>
          </a:solidFill>
          <a:ln w="12700">
            <a:solidFill>
              <a:srgbClr val="2C5C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291840"/>
            <a:ext cx="5029200" cy="5029200"/>
          </a:xfrm>
          <a:prstGeom prst="ellipse">
            <a:avLst/>
          </a:prstGeom>
          <a:solidFill>
            <a:srgbClr val="29547F"/>
          </a:solidFill>
          <a:ln w="12700">
            <a:solidFill>
              <a:srgbClr val="2954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371600"/>
            <a:ext cx="1371600" cy="1371600"/>
          </a:xfrm>
          <a:prstGeom prst="ellipse">
            <a:avLst/>
          </a:prstGeom>
          <a:solidFill>
            <a:srgbClr val="356494"/>
          </a:solidFill>
          <a:ln w="12700">
            <a:solidFill>
              <a:srgbClr val="356494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172821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7432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SISFA</a:t>
            </a:r>
            <a:endParaRPr lang="en-US" sz="8000" dirty="0"/>
          </a:p>
        </p:txBody>
      </p:sp>
      <p:sp>
        <p:nvSpPr>
          <p:cNvPr id="7" name="Text 4"/>
          <p:cNvSpPr/>
          <p:nvPr/>
        </p:nvSpPr>
        <p:spPr>
          <a:xfrm>
            <a:off x="868680" y="40233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BC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Image Steganography-based File Vault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68680" y="4709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D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encrypted files invisibly inside ordinary images.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55321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C6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Davut AKEL	</a:t>
            </a:r>
            <a:r>
              <a:rPr lang="en-US" sz="1350" b="1" dirty="0">
                <a:solidFill>
                  <a:srgbClr val="C6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210313012</a:t>
            </a:r>
            <a:endParaRPr lang="en-US" sz="1350" b="1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C6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Hasan Berk SELÇUK	</a:t>
            </a:r>
            <a:r>
              <a:rPr lang="en-US" sz="1350" b="1" dirty="0">
                <a:solidFill>
                  <a:srgbClr val="C6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210313024</a:t>
            </a:r>
            <a:endParaRPr lang="en-US" sz="1350" b="1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C6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Murathan GÜRBÜZ	</a:t>
            </a:r>
            <a:r>
              <a:rPr lang="en-US" sz="1350" b="1" dirty="0">
                <a:solidFill>
                  <a:srgbClr val="C6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210313032</a:t>
            </a:r>
            <a:endParaRPr lang="en-US" sz="1350" b="1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C6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Nuri YALÇIN		</a:t>
            </a:r>
            <a:r>
              <a:rPr lang="en-US" sz="1350" b="1" dirty="0">
                <a:solidFill>
                  <a:srgbClr val="C6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210313011</a:t>
            </a:r>
            <a:endParaRPr lang="en-US" sz="135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BCD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035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security is a growing concern and encryption tools are widely available.</a:t>
            </a:r>
            <a:endParaRPr lang="en-US" sz="1800" dirty="0"/>
          </a:p>
          <a:p>
            <a:pPr marL="0" indent="0" algn="l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an encrypted file is an obvious signal that something is being protected and it draws attention of hackers.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SISFA takes a different approach: </a:t>
            </a: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not only secures the data, but hides its very existence inside an ordinary image.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132320" y="1325880"/>
            <a:ext cx="4434840" cy="402336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BCD8F2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006840" y="1783080"/>
            <a:ext cx="914400" cy="914400"/>
          </a:xfrm>
          <a:prstGeom prst="ellipse">
            <a:avLst/>
          </a:prstGeom>
          <a:solidFill>
            <a:srgbClr val="BCD8F2"/>
          </a:solidFill>
          <a:ln w="12700">
            <a:solidFill>
              <a:srgbClr val="BCD8F2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4584" y="202082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06640" y="28346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A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layers of protection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406640" y="3383280"/>
            <a:ext cx="3886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600" dirty="0"/>
          </a:p>
          <a:p>
            <a:pPr marL="0" indent="0" algn="ctr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data unreadable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data invisible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BCD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965960"/>
            <a:ext cx="3611880" cy="3931920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 w="12700">
            <a:solidFill>
              <a:srgbClr val="BCD8F2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23060" y="2377440"/>
            <a:ext cx="1005840" cy="1005840"/>
          </a:xfrm>
          <a:prstGeom prst="ellipse">
            <a:avLst/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4578" y="2638958"/>
            <a:ext cx="482803" cy="482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5204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A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Situation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40080" y="411480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store sensitive files, documents, credentials and private records on their devices, 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protected only by encryption.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251960" y="1965960"/>
            <a:ext cx="3611880" cy="3931920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 w="12700">
            <a:solidFill>
              <a:srgbClr val="BCD8F2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54980" y="2377440"/>
            <a:ext cx="1005840" cy="1005840"/>
          </a:xfrm>
          <a:prstGeom prst="ellipse">
            <a:avLst/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6498" y="2638958"/>
            <a:ext cx="482803" cy="482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35204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A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572000" y="411480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protects the contents of a file, but does nothing to hide that the file exists. 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presence alone invites suspicion.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260080" y="1965960"/>
            <a:ext cx="3611880" cy="3931920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 w="12700">
            <a:solidFill>
              <a:srgbClr val="BCD8F2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563100" y="2377440"/>
            <a:ext cx="1005840" cy="1005840"/>
          </a:xfrm>
          <a:prstGeom prst="ellipse">
            <a:avLst/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4618" y="2638958"/>
            <a:ext cx="482803" cy="482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88680" y="35204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A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Impact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580120" y="411480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files attract the attention of malicious individuals and make the files vulnerable to attacks.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BCD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SISFA encrypts a file and hides it inside the pixels of an ordinary PNG image.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looks completely normal and only the right password reveals what is embedded inside that image file.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88620" y="3291840"/>
            <a:ext cx="2468880" cy="20574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12700">
            <a:solidFill>
              <a:srgbClr val="BCD8F2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65860" y="3611880"/>
            <a:ext cx="914400" cy="914400"/>
          </a:xfrm>
          <a:prstGeom prst="ellipse">
            <a:avLst/>
          </a:prstGeom>
          <a:solidFill>
            <a:srgbClr val="BCD8F2"/>
          </a:solidFill>
          <a:ln w="12700">
            <a:solidFill>
              <a:srgbClr val="BCD8F2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04" y="384962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5780" y="46634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File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2875788" y="3291840"/>
            <a:ext cx="457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3360420" y="3291840"/>
            <a:ext cx="2468880" cy="20574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12700">
            <a:solidFill>
              <a:srgbClr val="BCD8F2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37660" y="3611880"/>
            <a:ext cx="914400" cy="914400"/>
          </a:xfrm>
          <a:prstGeom prst="ellipse">
            <a:avLst/>
          </a:prstGeom>
          <a:solidFill>
            <a:srgbClr val="BCD8F2"/>
          </a:solidFill>
          <a:ln w="12700">
            <a:solidFill>
              <a:srgbClr val="BCD8F2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5404" y="384962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97580" y="46634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(AES-256)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5847588" y="3291840"/>
            <a:ext cx="457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5" name="Shape 11"/>
          <p:cNvSpPr/>
          <p:nvPr/>
        </p:nvSpPr>
        <p:spPr>
          <a:xfrm>
            <a:off x="6332220" y="3291840"/>
            <a:ext cx="2468880" cy="20574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12700">
            <a:solidFill>
              <a:srgbClr val="BCD8F2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09460" y="3611880"/>
            <a:ext cx="914400" cy="914400"/>
          </a:xfrm>
          <a:prstGeom prst="ellipse">
            <a:avLst/>
          </a:prstGeom>
          <a:solidFill>
            <a:srgbClr val="BCD8F2"/>
          </a:solidFill>
          <a:ln w="12700">
            <a:solidFill>
              <a:srgbClr val="BCD8F2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7204" y="3849624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9380" y="46634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(LSB)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819388" y="3291840"/>
            <a:ext cx="457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20" name="Shape 15"/>
          <p:cNvSpPr/>
          <p:nvPr/>
        </p:nvSpPr>
        <p:spPr>
          <a:xfrm>
            <a:off x="9304020" y="3291840"/>
            <a:ext cx="2468880" cy="20574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12700">
            <a:solidFill>
              <a:srgbClr val="BCD8F2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081260" y="3611880"/>
            <a:ext cx="914400" cy="914400"/>
          </a:xfrm>
          <a:prstGeom prst="ellipse">
            <a:avLst/>
          </a:prstGeom>
          <a:solidFill>
            <a:srgbClr val="BCD8F2"/>
          </a:solidFill>
          <a:ln w="12700">
            <a:solidFill>
              <a:srgbClr val="BCD8F2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9004" y="3849624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41180" y="46634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Stego Image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E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recover the file, both the stego image and the correct password are required.</a:t>
            </a:r>
            <a:endParaRPr lang="en-US" sz="1600" dirty="0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EA8A4115-B41D-E0EA-0DF3-68F04F27C13E}"/>
              </a:ext>
            </a:extLst>
          </p:cNvPr>
          <p:cNvSpPr/>
          <p:nvPr/>
        </p:nvSpPr>
        <p:spPr>
          <a:xfrm>
            <a:off x="655320" y="2743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E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and Embedding pipeline;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ch Stack">
    <p:bg>
      <p:bgPr>
        <a:solidFill>
          <a:srgbClr val="EA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BCD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4" name="Card 4"/>
          <p:cNvSpPr/>
          <p:nvPr/>
        </p:nvSpPr>
        <p:spPr>
          <a:xfrm>
            <a:off x="320040" y="2057400"/>
            <a:ext cx="2164080" cy="3931920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 w="12700">
            <a:solidFill>
              <a:srgbClr val="BCD8F2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</p:sp>
      <p:sp>
        <p:nvSpPr>
          <p:cNvPr id="5" name="Circle 5"/>
          <p:cNvSpPr/>
          <p:nvPr/>
        </p:nvSpPr>
        <p:spPr>
          <a:xfrm>
            <a:off x="899160" y="2468880"/>
            <a:ext cx="1005840" cy="1005840"/>
          </a:xfrm>
          <a:prstGeom prst="ellipse">
            <a:avLst/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pic>
        <p:nvPicPr>
          <p:cNvPr id="6" name="Icon 6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080" y="2621800"/>
            <a:ext cx="700000" cy="700000"/>
          </a:xfrm>
          <a:prstGeom prst="rect">
            <a:avLst/>
          </a:prstGeom>
        </p:spPr>
      </p:pic>
      <p:sp>
        <p:nvSpPr>
          <p:cNvPr id="7" name="Text 7"/>
          <p:cNvSpPr/>
          <p:nvPr/>
        </p:nvSpPr>
        <p:spPr>
          <a:xfrm>
            <a:off x="411480" y="3703320"/>
            <a:ext cx="198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C++17</a:t>
            </a:r>
            <a:endParaRPr lang="en-US" sz="1800" dirty="0"/>
          </a:p>
        </p:txBody>
      </p:sp>
      <p:sp>
        <p:nvSpPr>
          <p:cNvPr id="8" name="Text 8"/>
          <p:cNvSpPr/>
          <p:nvPr/>
        </p:nvSpPr>
        <p:spPr>
          <a:xfrm>
            <a:off x="457200" y="4297680"/>
            <a:ext cx="1889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1400" dirty="0"/>
          </a:p>
        </p:txBody>
      </p:sp>
      <p:sp>
        <p:nvSpPr>
          <p:cNvPr id="9" name="Card 9"/>
          <p:cNvSpPr/>
          <p:nvPr/>
        </p:nvSpPr>
        <p:spPr>
          <a:xfrm>
            <a:off x="2667000" y="2057400"/>
            <a:ext cx="2164080" cy="3931920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 w="12700">
            <a:solidFill>
              <a:srgbClr val="BCD8F2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</p:sp>
      <p:sp>
        <p:nvSpPr>
          <p:cNvPr id="10" name="Circle 10"/>
          <p:cNvSpPr/>
          <p:nvPr/>
        </p:nvSpPr>
        <p:spPr>
          <a:xfrm>
            <a:off x="3246120" y="2468880"/>
            <a:ext cx="1005840" cy="1005840"/>
          </a:xfrm>
          <a:prstGeom prst="ellipse">
            <a:avLst/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pic>
        <p:nvPicPr>
          <p:cNvPr id="11" name="Icon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9040" y="2621800"/>
            <a:ext cx="700000" cy="700000"/>
          </a:xfrm>
          <a:prstGeom prst="rect">
            <a:avLst/>
          </a:prstGeom>
        </p:spPr>
      </p:pic>
      <p:sp>
        <p:nvSpPr>
          <p:cNvPr id="12" name="Text 12"/>
          <p:cNvSpPr/>
          <p:nvPr/>
        </p:nvSpPr>
        <p:spPr>
          <a:xfrm>
            <a:off x="2758440" y="3703320"/>
            <a:ext cx="198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Qt6</a:t>
            </a:r>
            <a:endParaRPr lang="en-US" sz="1800" dirty="0"/>
          </a:p>
        </p:txBody>
      </p:sp>
      <p:sp>
        <p:nvSpPr>
          <p:cNvPr id="13" name="Text 13"/>
          <p:cNvSpPr/>
          <p:nvPr/>
        </p:nvSpPr>
        <p:spPr>
          <a:xfrm>
            <a:off x="2804160" y="4297680"/>
            <a:ext cx="1889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GUI framework</a:t>
            </a:r>
            <a:endParaRPr lang="en-US" sz="1400" dirty="0"/>
          </a:p>
        </p:txBody>
      </p:sp>
      <p:sp>
        <p:nvSpPr>
          <p:cNvPr id="14" name="Card 14"/>
          <p:cNvSpPr/>
          <p:nvPr/>
        </p:nvSpPr>
        <p:spPr>
          <a:xfrm>
            <a:off x="5013960" y="2057400"/>
            <a:ext cx="2164080" cy="3931920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 w="12700">
            <a:solidFill>
              <a:srgbClr val="BCD8F2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</p:sp>
      <p:sp>
        <p:nvSpPr>
          <p:cNvPr id="15" name="Circle 15"/>
          <p:cNvSpPr/>
          <p:nvPr/>
        </p:nvSpPr>
        <p:spPr>
          <a:xfrm>
            <a:off x="5593080" y="2468880"/>
            <a:ext cx="1005840" cy="1005840"/>
          </a:xfrm>
          <a:prstGeom prst="ellipse">
            <a:avLst/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pic>
        <p:nvPicPr>
          <p:cNvPr id="16" name="Icon 1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6000" y="2621800"/>
            <a:ext cx="700000" cy="700000"/>
          </a:xfrm>
          <a:prstGeom prst="rect">
            <a:avLst/>
          </a:prstGeom>
        </p:spPr>
      </p:pic>
      <p:sp>
        <p:nvSpPr>
          <p:cNvPr id="17" name="Text 17"/>
          <p:cNvSpPr/>
          <p:nvPr/>
        </p:nvSpPr>
        <p:spPr>
          <a:xfrm>
            <a:off x="5105400" y="3703320"/>
            <a:ext cx="198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OpenSSL</a:t>
            </a:r>
            <a:endParaRPr lang="en-US" sz="1800" dirty="0"/>
          </a:p>
        </p:txBody>
      </p:sp>
      <p:sp>
        <p:nvSpPr>
          <p:cNvPr id="18" name="Text 18"/>
          <p:cNvSpPr/>
          <p:nvPr/>
        </p:nvSpPr>
        <p:spPr>
          <a:xfrm>
            <a:off x="5151120" y="4297680"/>
            <a:ext cx="1889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AES-256-CBC, PBKDF2 &amp; HMAC-SHA256</a:t>
            </a:r>
            <a:endParaRPr lang="en-US" sz="1400" dirty="0"/>
          </a:p>
        </p:txBody>
      </p:sp>
      <p:sp>
        <p:nvSpPr>
          <p:cNvPr id="19" name="Card 19"/>
          <p:cNvSpPr/>
          <p:nvPr/>
        </p:nvSpPr>
        <p:spPr>
          <a:xfrm>
            <a:off x="7360920" y="2057400"/>
            <a:ext cx="2164080" cy="3931920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 w="12700">
            <a:solidFill>
              <a:srgbClr val="BCD8F2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</p:sp>
      <p:sp>
        <p:nvSpPr>
          <p:cNvPr id="20" name="Circle 20"/>
          <p:cNvSpPr/>
          <p:nvPr/>
        </p:nvSpPr>
        <p:spPr>
          <a:xfrm>
            <a:off x="7940040" y="2468880"/>
            <a:ext cx="1005840" cy="1005840"/>
          </a:xfrm>
          <a:prstGeom prst="ellipse">
            <a:avLst/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pic>
        <p:nvPicPr>
          <p:cNvPr id="21" name="Icon 2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960" y="2621800"/>
            <a:ext cx="700000" cy="700000"/>
          </a:xfrm>
          <a:prstGeom prst="rect">
            <a:avLst/>
          </a:prstGeom>
        </p:spPr>
      </p:pic>
      <p:sp>
        <p:nvSpPr>
          <p:cNvPr id="22" name="Text 22"/>
          <p:cNvSpPr/>
          <p:nvPr/>
        </p:nvSpPr>
        <p:spPr>
          <a:xfrm>
            <a:off x="7452360" y="3703320"/>
            <a:ext cx="198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stb libraries</a:t>
            </a:r>
            <a:endParaRPr lang="en-US" sz="1800" dirty="0"/>
          </a:p>
        </p:txBody>
      </p:sp>
      <p:sp>
        <p:nvSpPr>
          <p:cNvPr id="23" name="Text 23"/>
          <p:cNvSpPr/>
          <p:nvPr/>
        </p:nvSpPr>
        <p:spPr>
          <a:xfrm>
            <a:off x="7498080" y="4297680"/>
            <a:ext cx="1889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Header-only library for PNG read, pixel operations and saving</a:t>
            </a:r>
            <a:endParaRPr lang="en-US" sz="1400" dirty="0"/>
          </a:p>
        </p:txBody>
      </p:sp>
      <p:sp>
        <p:nvSpPr>
          <p:cNvPr id="24" name="Card 24"/>
          <p:cNvSpPr/>
          <p:nvPr/>
        </p:nvSpPr>
        <p:spPr>
          <a:xfrm>
            <a:off x="9707880" y="2057400"/>
            <a:ext cx="2164080" cy="3931920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 w="12700">
            <a:solidFill>
              <a:srgbClr val="BCD8F2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</p:sp>
      <p:sp>
        <p:nvSpPr>
          <p:cNvPr id="25" name="Circle 25"/>
          <p:cNvSpPr/>
          <p:nvPr/>
        </p:nvSpPr>
        <p:spPr>
          <a:xfrm>
            <a:off x="10287000" y="2468880"/>
            <a:ext cx="1005840" cy="1005840"/>
          </a:xfrm>
          <a:prstGeom prst="ellipse">
            <a:avLst/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pic>
        <p:nvPicPr>
          <p:cNvPr id="26" name="Icon 2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9920" y="2621800"/>
            <a:ext cx="700000" cy="700000"/>
          </a:xfrm>
          <a:prstGeom prst="rect">
            <a:avLst/>
          </a:prstGeom>
        </p:spPr>
      </p:pic>
      <p:sp>
        <p:nvSpPr>
          <p:cNvPr id="27" name="Text 27"/>
          <p:cNvSpPr/>
          <p:nvPr/>
        </p:nvSpPr>
        <p:spPr>
          <a:xfrm>
            <a:off x="9799320" y="3703320"/>
            <a:ext cx="198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CMake</a:t>
            </a:r>
            <a:endParaRPr lang="en-US" sz="1800" dirty="0"/>
          </a:p>
        </p:txBody>
      </p:sp>
      <p:sp>
        <p:nvSpPr>
          <p:cNvPr id="28" name="Text 28"/>
          <p:cNvSpPr/>
          <p:nvPr/>
        </p:nvSpPr>
        <p:spPr>
          <a:xfrm>
            <a:off x="9845040" y="4297680"/>
            <a:ext cx="1889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system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BCD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60520"/>
          </a:xfrm>
          <a:prstGeom prst="roundRect">
            <a:avLst>
              <a:gd name="adj" fmla="val 3516"/>
            </a:avLst>
          </a:prstGeom>
          <a:solidFill>
            <a:srgbClr val="FFFFFF"/>
          </a:solidFill>
          <a:ln w="12700">
            <a:solidFill>
              <a:srgbClr val="BCD8F2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731520" cy="731520"/>
          </a:xfrm>
          <a:prstGeom prst="ellipse">
            <a:avLst/>
          </a:prstGeom>
          <a:solidFill>
            <a:srgbClr val="BCD8F2"/>
          </a:solidFill>
          <a:ln w="12700">
            <a:solidFill>
              <a:srgbClr val="BCD8F2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" y="233903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945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A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60120" y="297180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any file type into a PNG carrier image</a:t>
            </a:r>
            <a:endParaRPr lang="en-US" sz="1450" dirty="0"/>
          </a:p>
          <a:p>
            <a:pPr marL="342900" indent="-34290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with password-based key derivation</a:t>
            </a:r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FontTx/>
              <a:buChar char="•"/>
            </a:pPr>
            <a:r>
              <a:rPr lang="en-US" sz="14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capacity checking before embedding</a:t>
            </a:r>
            <a:endParaRPr lang="en-US" sz="1450" dirty="0"/>
          </a:p>
          <a:p>
            <a:pPr marL="342900" indent="-34290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file integrity verification</a:t>
            </a:r>
            <a:endParaRPr lang="en-US" sz="1450" dirty="0"/>
          </a:p>
          <a:p>
            <a:pPr marL="342900" indent="-34290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and decrypting hidden files from stego images</a:t>
            </a:r>
            <a:endParaRPr lang="en-US" sz="1450" dirty="0"/>
          </a:p>
          <a:p>
            <a:pPr marL="342900" indent="-342900" algn="l">
              <a:lnSpc>
                <a:spcPct val="105000"/>
              </a:lnSpc>
              <a:buSzPct val="100000"/>
              <a:buChar char="•"/>
            </a:pPr>
            <a:r>
              <a:rPr lang="en-US" sz="14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GUI application for Windows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172200" y="1874520"/>
            <a:ext cx="5349240" cy="4160520"/>
          </a:xfrm>
          <a:prstGeom prst="roundRect">
            <a:avLst>
              <a:gd name="adj" fmla="val 3516"/>
            </a:avLst>
          </a:prstGeom>
          <a:solidFill>
            <a:srgbClr val="DCEBFA"/>
          </a:solidFill>
          <a:ln w="12700">
            <a:solidFill>
              <a:srgbClr val="BCD8F2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2148840"/>
            <a:ext cx="731520" cy="731520"/>
          </a:xfrm>
          <a:prstGeom prst="ellipse">
            <a:avLst/>
          </a:prstGeom>
          <a:solidFill>
            <a:srgbClr val="BCD8F2"/>
          </a:solidFill>
          <a:ln w="12700">
            <a:solidFill>
              <a:srgbClr val="BCD8F2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6715" y="233903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1945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A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6492240" y="297180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image formats other than images (Video, Sound, etc.)</a:t>
            </a:r>
            <a:endParaRPr lang="en-US" sz="1450" dirty="0"/>
          </a:p>
          <a:p>
            <a:pPr marL="342900" indent="-34290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multiple files in a single carrier image</a:t>
            </a:r>
            <a:endParaRPr lang="en-US" sz="1450" dirty="0"/>
          </a:p>
          <a:p>
            <a:pPr marL="342900" indent="-34290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management or password recovery</a:t>
            </a:r>
            <a:endParaRPr lang="en-US" sz="1450" dirty="0"/>
          </a:p>
          <a:p>
            <a:pPr marL="342900" indent="-342900" algn="l">
              <a:lnSpc>
                <a:spcPct val="105000"/>
              </a:lnSpc>
              <a:buSzPct val="100000"/>
              <a:buChar char="•"/>
            </a:pPr>
            <a:r>
              <a:rPr lang="en-US" sz="14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of secret files before embedding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unctional Requirements">
    <p:bg>
      <p:bgPr>
        <a:solidFill>
          <a:srgbClr val="EA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BCD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3200" dirty="0"/>
          </a:p>
        </p:txBody>
      </p:sp>
      <p:sp>
        <p:nvSpPr>
          <p:cNvPr id="4" name="Panel"/>
          <p:cNvSpPr/>
          <p:nvPr/>
        </p:nvSpPr>
        <p:spPr>
          <a:xfrm>
            <a:off x="640080" y="1874520"/>
            <a:ext cx="3383280" cy="4160520"/>
          </a:xfrm>
          <a:prstGeom prst="roundRect">
            <a:avLst>
              <a:gd name="adj" fmla="val 4324"/>
            </a:avLst>
          </a:prstGeom>
          <a:solidFill>
            <a:srgbClr val="234E78"/>
          </a:solidFill>
          <a:ln w="12700">
            <a:solidFill>
              <a:srgbClr val="234E78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</p:sp>
      <p:sp>
        <p:nvSpPr>
          <p:cNvPr id="5" name="Circle 5"/>
          <p:cNvSpPr/>
          <p:nvPr/>
        </p:nvSpPr>
        <p:spPr>
          <a:xfrm>
            <a:off x="1783080" y="2514600"/>
            <a:ext cx="1097280" cy="1097280"/>
          </a:xfrm>
          <a:prstGeom prst="ellipse">
            <a:avLst/>
          </a:prstGeom>
          <a:solidFill>
            <a:srgbClr val="356494"/>
          </a:solidFill>
          <a:ln w="12700">
            <a:solidFill>
              <a:srgbClr val="356494"/>
            </a:solidFill>
            <a:prstDash val="solid"/>
          </a:ln>
        </p:spPr>
      </p:sp>
      <p:pic>
        <p:nvPicPr>
          <p:cNvPr id="6" name="Icon 6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720" y="2763240"/>
            <a:ext cx="600000" cy="600000"/>
          </a:xfrm>
          <a:prstGeom prst="rect">
            <a:avLst/>
          </a:prstGeom>
        </p:spPr>
      </p:pic>
      <p:sp>
        <p:nvSpPr>
          <p:cNvPr id="7" name="Text 7"/>
          <p:cNvSpPr/>
          <p:nvPr/>
        </p:nvSpPr>
        <p:spPr>
          <a:xfrm>
            <a:off x="777240" y="3794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</a:t>
            </a:r>
            <a:endParaRPr lang="en-US" sz="2300" dirty="0"/>
          </a:p>
        </p:txBody>
      </p:sp>
      <p:sp>
        <p:nvSpPr>
          <p:cNvPr id="8" name="Text 8"/>
          <p:cNvSpPr/>
          <p:nvPr/>
        </p:nvSpPr>
        <p:spPr>
          <a:xfrm>
            <a:off x="868680" y="44348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0" dirty="0">
                <a:solidFill>
                  <a:srgbClr val="BC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must do, from selecting files to embedding, extraction and error handling.</a:t>
            </a:r>
            <a:endParaRPr lang="en-US" sz="1400" dirty="0"/>
          </a:p>
        </p:txBody>
      </p:sp>
      <p:sp>
        <p:nvSpPr>
          <p:cNvPr id="9" name="Card 9"/>
          <p:cNvSpPr/>
          <p:nvPr/>
        </p:nvSpPr>
        <p:spPr>
          <a:xfrm>
            <a:off x="4343400" y="1874520"/>
            <a:ext cx="7178040" cy="6172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CD8F2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</p:sp>
      <p:sp>
        <p:nvSpPr>
          <p:cNvPr id="10" name="Pill"/>
          <p:cNvSpPr/>
          <p:nvPr/>
        </p:nvSpPr>
        <p:spPr>
          <a:xfrm>
            <a:off x="4526280" y="1931670"/>
            <a:ext cx="1188720" cy="502920"/>
          </a:xfrm>
          <a:prstGeom prst="roundRect">
            <a:avLst>
              <a:gd name="adj" fmla="val 50000"/>
            </a:avLst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FR-1</a:t>
            </a:r>
            <a:endParaRPr lang="en-US" sz="1500" dirty="0"/>
          </a:p>
        </p:txBody>
      </p:sp>
      <p:sp>
        <p:nvSpPr>
          <p:cNvPr id="11" name="Text 11"/>
          <p:cNvSpPr/>
          <p:nvPr/>
        </p:nvSpPr>
        <p:spPr>
          <a:xfrm>
            <a:off x="5943600" y="1920240"/>
            <a:ext cx="53949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carrier image and any file type as the secret file</a:t>
            </a:r>
            <a:endParaRPr lang="en-US" sz="1400" dirty="0"/>
          </a:p>
        </p:txBody>
      </p:sp>
      <p:sp>
        <p:nvSpPr>
          <p:cNvPr id="12" name="Card 12"/>
          <p:cNvSpPr/>
          <p:nvPr/>
        </p:nvSpPr>
        <p:spPr>
          <a:xfrm>
            <a:off x="4343400" y="2583180"/>
            <a:ext cx="7178040" cy="6172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CD8F2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</p:sp>
      <p:sp>
        <p:nvSpPr>
          <p:cNvPr id="13" name="Pill"/>
          <p:cNvSpPr/>
          <p:nvPr/>
        </p:nvSpPr>
        <p:spPr>
          <a:xfrm>
            <a:off x="4526280" y="2640330"/>
            <a:ext cx="1188720" cy="502920"/>
          </a:xfrm>
          <a:prstGeom prst="roundRect">
            <a:avLst>
              <a:gd name="adj" fmla="val 50000"/>
            </a:avLst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FR-2</a:t>
            </a:r>
            <a:endParaRPr lang="en-US" sz="1500" dirty="0"/>
          </a:p>
        </p:txBody>
      </p:sp>
      <p:sp>
        <p:nvSpPr>
          <p:cNvPr id="14" name="Text 14"/>
          <p:cNvSpPr/>
          <p:nvPr/>
        </p:nvSpPr>
        <p:spPr>
          <a:xfrm>
            <a:off x="5943600" y="2628900"/>
            <a:ext cx="53949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the encryption key from the user's password</a:t>
            </a:r>
            <a:endParaRPr lang="en-US" sz="1400" dirty="0"/>
          </a:p>
        </p:txBody>
      </p:sp>
      <p:sp>
        <p:nvSpPr>
          <p:cNvPr id="15" name="Card 15"/>
          <p:cNvSpPr/>
          <p:nvPr/>
        </p:nvSpPr>
        <p:spPr>
          <a:xfrm>
            <a:off x="4343400" y="3291840"/>
            <a:ext cx="7178040" cy="6172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CD8F2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</p:sp>
      <p:sp>
        <p:nvSpPr>
          <p:cNvPr id="16" name="Pill"/>
          <p:cNvSpPr/>
          <p:nvPr/>
        </p:nvSpPr>
        <p:spPr>
          <a:xfrm>
            <a:off x="4526280" y="3348990"/>
            <a:ext cx="1188720" cy="502920"/>
          </a:xfrm>
          <a:prstGeom prst="roundRect">
            <a:avLst>
              <a:gd name="adj" fmla="val 50000"/>
            </a:avLst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FR-3</a:t>
            </a:r>
            <a:endParaRPr lang="en-US" sz="1500" dirty="0"/>
          </a:p>
        </p:txBody>
      </p:sp>
      <p:sp>
        <p:nvSpPr>
          <p:cNvPr id="17" name="Text 17"/>
          <p:cNvSpPr/>
          <p:nvPr/>
        </p:nvSpPr>
        <p:spPr>
          <a:xfrm>
            <a:off x="5943600" y="3337560"/>
            <a:ext cx="53949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encrypted file with LSB and save the stego image</a:t>
            </a:r>
            <a:endParaRPr lang="en-US" sz="1400" dirty="0"/>
          </a:p>
        </p:txBody>
      </p:sp>
      <p:sp>
        <p:nvSpPr>
          <p:cNvPr id="18" name="Card 18"/>
          <p:cNvSpPr/>
          <p:nvPr/>
        </p:nvSpPr>
        <p:spPr>
          <a:xfrm>
            <a:off x="4343400" y="4000500"/>
            <a:ext cx="7178040" cy="6172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CD8F2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</p:sp>
      <p:sp>
        <p:nvSpPr>
          <p:cNvPr id="19" name="Pill"/>
          <p:cNvSpPr/>
          <p:nvPr/>
        </p:nvSpPr>
        <p:spPr>
          <a:xfrm>
            <a:off x="4526280" y="4057650"/>
            <a:ext cx="1188720" cy="502920"/>
          </a:xfrm>
          <a:prstGeom prst="roundRect">
            <a:avLst>
              <a:gd name="adj" fmla="val 50000"/>
            </a:avLst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FR-4</a:t>
            </a:r>
            <a:endParaRPr lang="en-US" sz="1500" dirty="0"/>
          </a:p>
        </p:txBody>
      </p:sp>
      <p:sp>
        <p:nvSpPr>
          <p:cNvPr id="20" name="Text 20"/>
          <p:cNvSpPr/>
          <p:nvPr/>
        </p:nvSpPr>
        <p:spPr>
          <a:xfrm>
            <a:off x="5943600" y="4046220"/>
            <a:ext cx="53949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stego image and ask for the password on extraction</a:t>
            </a:r>
            <a:endParaRPr lang="en-US" sz="1400" dirty="0"/>
          </a:p>
        </p:txBody>
      </p:sp>
      <p:sp>
        <p:nvSpPr>
          <p:cNvPr id="21" name="Card 21"/>
          <p:cNvSpPr/>
          <p:nvPr/>
        </p:nvSpPr>
        <p:spPr>
          <a:xfrm>
            <a:off x="4343400" y="4709160"/>
            <a:ext cx="7178040" cy="6172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CD8F2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</p:sp>
      <p:sp>
        <p:nvSpPr>
          <p:cNvPr id="22" name="Pill"/>
          <p:cNvSpPr/>
          <p:nvPr/>
        </p:nvSpPr>
        <p:spPr>
          <a:xfrm>
            <a:off x="4526280" y="4766310"/>
            <a:ext cx="1188720" cy="502920"/>
          </a:xfrm>
          <a:prstGeom prst="roundRect">
            <a:avLst>
              <a:gd name="adj" fmla="val 50000"/>
            </a:avLst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FR-5</a:t>
            </a:r>
            <a:endParaRPr lang="en-US" sz="1500" dirty="0"/>
          </a:p>
        </p:txBody>
      </p:sp>
      <p:sp>
        <p:nvSpPr>
          <p:cNvPr id="23" name="Text 23"/>
          <p:cNvSpPr/>
          <p:nvPr/>
        </p:nvSpPr>
        <p:spPr>
          <a:xfrm>
            <a:off x="5943600" y="4754880"/>
            <a:ext cx="53949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 the original file and choose the output folder</a:t>
            </a:r>
            <a:endParaRPr lang="en-US" sz="1400" dirty="0"/>
          </a:p>
        </p:txBody>
      </p:sp>
      <p:sp>
        <p:nvSpPr>
          <p:cNvPr id="24" name="Card 24"/>
          <p:cNvSpPr/>
          <p:nvPr/>
        </p:nvSpPr>
        <p:spPr>
          <a:xfrm>
            <a:off x="4343400" y="5417820"/>
            <a:ext cx="7178040" cy="6172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CD8F2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</p:sp>
      <p:sp>
        <p:nvSpPr>
          <p:cNvPr id="25" name="Pill"/>
          <p:cNvSpPr/>
          <p:nvPr/>
        </p:nvSpPr>
        <p:spPr>
          <a:xfrm>
            <a:off x="4526280" y="5474970"/>
            <a:ext cx="1188720" cy="502920"/>
          </a:xfrm>
          <a:prstGeom prst="roundRect">
            <a:avLst>
              <a:gd name="adj" fmla="val 50000"/>
            </a:avLst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FR-6</a:t>
            </a:r>
            <a:endParaRPr lang="en-US" sz="1500" dirty="0"/>
          </a:p>
        </p:txBody>
      </p:sp>
      <p:sp>
        <p:nvSpPr>
          <p:cNvPr id="26" name="Text 26"/>
          <p:cNvSpPr/>
          <p:nvPr/>
        </p:nvSpPr>
        <p:spPr>
          <a:xfrm>
            <a:off x="5943600" y="5463540"/>
            <a:ext cx="53949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embedding if image is too small; show error messages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on-Functional Requirements">
    <p:bg>
      <p:bgPr>
        <a:solidFill>
          <a:srgbClr val="EA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BCD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3200" dirty="0"/>
          </a:p>
        </p:txBody>
      </p:sp>
      <p:sp>
        <p:nvSpPr>
          <p:cNvPr id="4" name="Panel"/>
          <p:cNvSpPr/>
          <p:nvPr/>
        </p:nvSpPr>
        <p:spPr>
          <a:xfrm>
            <a:off x="640080" y="1874520"/>
            <a:ext cx="3383280" cy="4160520"/>
          </a:xfrm>
          <a:prstGeom prst="roundRect">
            <a:avLst>
              <a:gd name="adj" fmla="val 4324"/>
            </a:avLst>
          </a:prstGeom>
          <a:solidFill>
            <a:srgbClr val="234E78"/>
          </a:solidFill>
          <a:ln w="12700">
            <a:solidFill>
              <a:srgbClr val="234E78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</p:sp>
      <p:sp>
        <p:nvSpPr>
          <p:cNvPr id="5" name="Circle 5"/>
          <p:cNvSpPr/>
          <p:nvPr/>
        </p:nvSpPr>
        <p:spPr>
          <a:xfrm>
            <a:off x="1783080" y="2514600"/>
            <a:ext cx="1097280" cy="1097280"/>
          </a:xfrm>
          <a:prstGeom prst="ellipse">
            <a:avLst/>
          </a:prstGeom>
          <a:solidFill>
            <a:srgbClr val="356494"/>
          </a:solidFill>
          <a:ln w="12700">
            <a:solidFill>
              <a:srgbClr val="356494"/>
            </a:solidFill>
            <a:prstDash val="solid"/>
          </a:ln>
        </p:spPr>
      </p:sp>
      <p:pic>
        <p:nvPicPr>
          <p:cNvPr id="6" name="Icon 6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720" y="2763240"/>
            <a:ext cx="600000" cy="600000"/>
          </a:xfrm>
          <a:prstGeom prst="rect">
            <a:avLst/>
          </a:prstGeom>
        </p:spPr>
      </p:pic>
      <p:sp>
        <p:nvSpPr>
          <p:cNvPr id="7" name="Text 7"/>
          <p:cNvSpPr/>
          <p:nvPr/>
        </p:nvSpPr>
        <p:spPr>
          <a:xfrm>
            <a:off x="777240" y="3794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</a:t>
            </a:r>
            <a:endParaRPr lang="en-US" sz="2300" dirty="0"/>
          </a:p>
        </p:txBody>
      </p:sp>
      <p:sp>
        <p:nvSpPr>
          <p:cNvPr id="8" name="Text 8"/>
          <p:cNvSpPr/>
          <p:nvPr/>
        </p:nvSpPr>
        <p:spPr>
          <a:xfrm>
            <a:off x="868680" y="44348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0" dirty="0">
                <a:solidFill>
                  <a:srgbClr val="BC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constraints: security strength, Unicode support, memory limits and performance targets.</a:t>
            </a:r>
            <a:endParaRPr lang="en-US" sz="1400" dirty="0"/>
          </a:p>
        </p:txBody>
      </p:sp>
      <p:sp>
        <p:nvSpPr>
          <p:cNvPr id="9" name="Card 9"/>
          <p:cNvSpPr/>
          <p:nvPr/>
        </p:nvSpPr>
        <p:spPr>
          <a:xfrm>
            <a:off x="4343400" y="1874520"/>
            <a:ext cx="7178040" cy="6172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CD8F2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</p:sp>
      <p:sp>
        <p:nvSpPr>
          <p:cNvPr id="10" name="Pill"/>
          <p:cNvSpPr/>
          <p:nvPr/>
        </p:nvSpPr>
        <p:spPr>
          <a:xfrm>
            <a:off x="4526280" y="1931670"/>
            <a:ext cx="1188720" cy="502920"/>
          </a:xfrm>
          <a:prstGeom prst="roundRect">
            <a:avLst>
              <a:gd name="adj" fmla="val 50000"/>
            </a:avLst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NFR-1</a:t>
            </a:r>
            <a:endParaRPr lang="en-US" sz="1500" dirty="0"/>
          </a:p>
        </p:txBody>
      </p:sp>
      <p:sp>
        <p:nvSpPr>
          <p:cNvPr id="11" name="Text 11"/>
          <p:cNvSpPr/>
          <p:nvPr/>
        </p:nvSpPr>
        <p:spPr>
          <a:xfrm>
            <a:off x="5943600" y="1920240"/>
            <a:ext cx="53949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file names and paths with Unicode characters</a:t>
            </a:r>
            <a:endParaRPr lang="en-US" sz="1400" dirty="0"/>
          </a:p>
        </p:txBody>
      </p:sp>
      <p:sp>
        <p:nvSpPr>
          <p:cNvPr id="15" name="Card 15"/>
          <p:cNvSpPr/>
          <p:nvPr/>
        </p:nvSpPr>
        <p:spPr>
          <a:xfrm>
            <a:off x="4343400" y="2610452"/>
            <a:ext cx="7178040" cy="6172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CD8F2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</p:sp>
      <p:sp>
        <p:nvSpPr>
          <p:cNvPr id="16" name="Pill"/>
          <p:cNvSpPr/>
          <p:nvPr/>
        </p:nvSpPr>
        <p:spPr>
          <a:xfrm>
            <a:off x="4526280" y="2667602"/>
            <a:ext cx="1188720" cy="502920"/>
          </a:xfrm>
          <a:prstGeom prst="roundRect">
            <a:avLst>
              <a:gd name="adj" fmla="val 50000"/>
            </a:avLst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NFR-2</a:t>
            </a:r>
            <a:endParaRPr lang="en-US" sz="1500" dirty="0"/>
          </a:p>
        </p:txBody>
      </p:sp>
      <p:sp>
        <p:nvSpPr>
          <p:cNvPr id="17" name="Text 17"/>
          <p:cNvSpPr/>
          <p:nvPr/>
        </p:nvSpPr>
        <p:spPr>
          <a:xfrm>
            <a:off x="5943600" y="2656172"/>
            <a:ext cx="53949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unique random salt and IV for every encryption</a:t>
            </a:r>
            <a:endParaRPr lang="en-US" sz="1400" dirty="0"/>
          </a:p>
        </p:txBody>
      </p:sp>
      <p:sp>
        <p:nvSpPr>
          <p:cNvPr id="18" name="Card 18"/>
          <p:cNvSpPr/>
          <p:nvPr/>
        </p:nvSpPr>
        <p:spPr>
          <a:xfrm>
            <a:off x="4343400" y="3319112"/>
            <a:ext cx="7178040" cy="6172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CD8F2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</p:sp>
      <p:sp>
        <p:nvSpPr>
          <p:cNvPr id="19" name="Pill"/>
          <p:cNvSpPr/>
          <p:nvPr/>
        </p:nvSpPr>
        <p:spPr>
          <a:xfrm>
            <a:off x="4526280" y="3376262"/>
            <a:ext cx="1188720" cy="502920"/>
          </a:xfrm>
          <a:prstGeom prst="roundRect">
            <a:avLst>
              <a:gd name="adj" fmla="val 50000"/>
            </a:avLst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NFR-3</a:t>
            </a:r>
            <a:endParaRPr lang="en-US" sz="1500" dirty="0"/>
          </a:p>
        </p:txBody>
      </p:sp>
      <p:sp>
        <p:nvSpPr>
          <p:cNvPr id="20" name="Text 20"/>
          <p:cNvSpPr/>
          <p:nvPr/>
        </p:nvSpPr>
        <p:spPr>
          <a:xfrm>
            <a:off x="5943600" y="3364832"/>
            <a:ext cx="53949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reject tampered or corrupted vaults before decryption</a:t>
            </a:r>
            <a:endParaRPr lang="en-US" sz="1400" dirty="0"/>
          </a:p>
        </p:txBody>
      </p:sp>
      <p:sp>
        <p:nvSpPr>
          <p:cNvPr id="21" name="Card 21"/>
          <p:cNvSpPr/>
          <p:nvPr/>
        </p:nvSpPr>
        <p:spPr>
          <a:xfrm>
            <a:off x="4343400" y="4027772"/>
            <a:ext cx="7178040" cy="6172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CD8F2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</p:sp>
      <p:sp>
        <p:nvSpPr>
          <p:cNvPr id="22" name="Pill"/>
          <p:cNvSpPr/>
          <p:nvPr/>
        </p:nvSpPr>
        <p:spPr>
          <a:xfrm>
            <a:off x="4526280" y="4084922"/>
            <a:ext cx="1188720" cy="502920"/>
          </a:xfrm>
          <a:prstGeom prst="roundRect">
            <a:avLst>
              <a:gd name="adj" fmla="val 50000"/>
            </a:avLst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NFR-4</a:t>
            </a:r>
            <a:endParaRPr lang="en-US" sz="1500" dirty="0"/>
          </a:p>
        </p:txBody>
      </p:sp>
      <p:sp>
        <p:nvSpPr>
          <p:cNvPr id="23" name="Text 23"/>
          <p:cNvSpPr/>
          <p:nvPr/>
        </p:nvSpPr>
        <p:spPr>
          <a:xfrm>
            <a:off x="5943600" y="4073492"/>
            <a:ext cx="53949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no more than 512 MB of RAM during any operation</a:t>
            </a:r>
            <a:endParaRPr lang="en-US" sz="1400" dirty="0"/>
          </a:p>
        </p:txBody>
      </p:sp>
      <p:sp>
        <p:nvSpPr>
          <p:cNvPr id="24" name="Card 24"/>
          <p:cNvSpPr/>
          <p:nvPr/>
        </p:nvSpPr>
        <p:spPr>
          <a:xfrm>
            <a:off x="4343400" y="4736432"/>
            <a:ext cx="7178040" cy="6172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CD8F2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</p:sp>
      <p:sp>
        <p:nvSpPr>
          <p:cNvPr id="25" name="Pill"/>
          <p:cNvSpPr/>
          <p:nvPr/>
        </p:nvSpPr>
        <p:spPr>
          <a:xfrm>
            <a:off x="4526280" y="4793582"/>
            <a:ext cx="1188720" cy="502920"/>
          </a:xfrm>
          <a:prstGeom prst="roundRect">
            <a:avLst>
              <a:gd name="adj" fmla="val 50000"/>
            </a:avLst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NFR-5</a:t>
            </a:r>
            <a:endParaRPr lang="en-US" sz="1500" dirty="0"/>
          </a:p>
        </p:txBody>
      </p:sp>
      <p:sp>
        <p:nvSpPr>
          <p:cNvPr id="26" name="Text 26"/>
          <p:cNvSpPr/>
          <p:nvPr/>
        </p:nvSpPr>
        <p:spPr>
          <a:xfrm>
            <a:off x="5943600" y="4782152"/>
            <a:ext cx="53949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and extract hidden files up to 1 MB in at most 3 seconds each</a:t>
            </a:r>
            <a:endParaRPr lang="en-US" sz="14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FB8DC76-5DB1-74B7-3C81-E201D9765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5123" y="5409599"/>
            <a:ext cx="5895085" cy="9131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BCD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Steganography Module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383280" cy="4160520"/>
          </a:xfrm>
          <a:prstGeom prst="roundRect">
            <a:avLst>
              <a:gd name="adj" fmla="val 4324"/>
            </a:avLst>
          </a:prstGeom>
          <a:solidFill>
            <a:srgbClr val="234E78"/>
          </a:solidFill>
          <a:ln w="12700">
            <a:solidFill>
              <a:srgbClr val="234E78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83080" y="2514600"/>
            <a:ext cx="1097280" cy="1097280"/>
          </a:xfrm>
          <a:prstGeom prst="ellipse">
            <a:avLst/>
          </a:prstGeom>
          <a:solidFill>
            <a:srgbClr val="356494"/>
          </a:solidFill>
          <a:ln w="12700">
            <a:solidFill>
              <a:srgbClr val="356494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373" y="2799893"/>
            <a:ext cx="526694" cy="5266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794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Steganography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868680" y="443484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BC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raw bytes inside the image's pixels with no visible trace.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3400" y="2011680"/>
            <a:ext cx="717804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BCD8F2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2295144"/>
            <a:ext cx="640080" cy="640080"/>
          </a:xfrm>
          <a:prstGeom prst="ellipse">
            <a:avLst/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421" y="2461565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2157984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Steganography Technique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394960" y="2560320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the last bit of each pixel byte with one bit of secret data with no change visible to the eye.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343400" y="3346704"/>
            <a:ext cx="717804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BCD8F2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0" y="3630168"/>
            <a:ext cx="640080" cy="640080"/>
          </a:xfrm>
          <a:prstGeom prst="ellipse">
            <a:avLst/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8421" y="379658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94960" y="349300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Header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5394960" y="3895344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32 pixel bytes store the payload length so extraction knows how many bytes to read to extract the hidden file.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4343400" y="4681728"/>
            <a:ext cx="717804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BCD8F2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72000" y="4965192"/>
            <a:ext cx="640080" cy="640080"/>
          </a:xfrm>
          <a:prstGeom prst="ellipse">
            <a:avLst/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8421" y="5131613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94960" y="482803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&amp; Extract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394960" y="5230368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embedData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hides the payload; </a:t>
            </a: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extractData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reconstructs it bit by bit, perfectly.</a:t>
            </a:r>
            <a:endParaRPr lang="en-US" sz="1400" dirty="0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F534B5CA-C177-DCCF-620A-541859FFEFBA}"/>
              </a:ext>
            </a:extLst>
          </p:cNvPr>
          <p:cNvSpPr/>
          <p:nvPr/>
        </p:nvSpPr>
        <p:spPr>
          <a:xfrm>
            <a:off x="1417320" y="1193292"/>
            <a:ext cx="4253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E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Davut AKEL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BCD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Cryptography Module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383280" cy="4160520"/>
          </a:xfrm>
          <a:prstGeom prst="roundRect">
            <a:avLst>
              <a:gd name="adj" fmla="val 4324"/>
            </a:avLst>
          </a:prstGeom>
          <a:solidFill>
            <a:srgbClr val="234E78"/>
          </a:solidFill>
          <a:ln w="12700">
            <a:solidFill>
              <a:srgbClr val="234E78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83080" y="2514600"/>
            <a:ext cx="1097280" cy="1097280"/>
          </a:xfrm>
          <a:prstGeom prst="ellipse">
            <a:avLst/>
          </a:prstGeom>
          <a:solidFill>
            <a:srgbClr val="356494"/>
          </a:solidFill>
          <a:ln w="12700">
            <a:solidFill>
              <a:srgbClr val="356494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373" y="2799893"/>
            <a:ext cx="526694" cy="5266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794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Cryptography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868680" y="443484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BC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the hidden data is unreadable without the correct password.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3400" y="2011680"/>
            <a:ext cx="717804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BCD8F2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2295144"/>
            <a:ext cx="640080" cy="640080"/>
          </a:xfrm>
          <a:prstGeom prst="ellipse">
            <a:avLst/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421" y="2461565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2157984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AES-256-CBC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394960" y="2560320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file encryption with a unique random IV for every operation.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343400" y="3346704"/>
            <a:ext cx="717804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BCD8F2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0" y="3630168"/>
            <a:ext cx="640080" cy="640080"/>
          </a:xfrm>
          <a:prstGeom prst="ellipse">
            <a:avLst/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421" y="379658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94960" y="349300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 Key Derivation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5394960" y="3895344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600,000 iterations with a random salt turn the password into a strong 256-bit key.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4343400" y="4681728"/>
            <a:ext cx="717804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BCD8F2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72000" y="4965192"/>
            <a:ext cx="640080" cy="640080"/>
          </a:xfrm>
          <a:prstGeom prst="ellipse">
            <a:avLst/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8421" y="5131613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94960" y="482803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394960" y="5230368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tamper-detection signature verified before any decryption is attempted.</a:t>
            </a:r>
            <a:endParaRPr lang="en-US" sz="1400" dirty="0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E4D4FF1E-46C4-815F-AB7F-FD29E23D8D77}"/>
              </a:ext>
            </a:extLst>
          </p:cNvPr>
          <p:cNvSpPr/>
          <p:nvPr/>
        </p:nvSpPr>
        <p:spPr>
          <a:xfrm>
            <a:off x="1417320" y="1193292"/>
            <a:ext cx="4253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E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Nuri YALÇIN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BCD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Vault Module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383280" cy="4160520"/>
          </a:xfrm>
          <a:prstGeom prst="roundRect">
            <a:avLst>
              <a:gd name="adj" fmla="val 4324"/>
            </a:avLst>
          </a:prstGeom>
          <a:solidFill>
            <a:srgbClr val="234E78"/>
          </a:solidFill>
          <a:ln w="12700">
            <a:solidFill>
              <a:srgbClr val="234E78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83080" y="2514600"/>
            <a:ext cx="1097280" cy="1097280"/>
          </a:xfrm>
          <a:prstGeom prst="ellipse">
            <a:avLst/>
          </a:prstGeom>
          <a:solidFill>
            <a:srgbClr val="356494"/>
          </a:solidFill>
          <a:ln w="12700">
            <a:solidFill>
              <a:srgbClr val="356494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373" y="2799893"/>
            <a:ext cx="526694" cy="5266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794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Vault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868680" y="443484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BC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the full pipeline by combining crypto and steganography.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3400" y="2011680"/>
            <a:ext cx="717804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BCD8F2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  <p:txBody>
          <a:bodyPr/>
          <a:lstStyle/>
          <a:p>
            <a:endParaRPr lang="tr-TR" dirty="0"/>
          </a:p>
        </p:txBody>
      </p:sp>
      <p:sp>
        <p:nvSpPr>
          <p:cNvPr id="10" name="Shape 7"/>
          <p:cNvSpPr/>
          <p:nvPr/>
        </p:nvSpPr>
        <p:spPr>
          <a:xfrm>
            <a:off x="4572000" y="2295144"/>
            <a:ext cx="640080" cy="640080"/>
          </a:xfrm>
          <a:prstGeom prst="ellipse">
            <a:avLst/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421" y="2461565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2157984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Vault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394960" y="2560320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file, encrypts it, builds the payload and </a:t>
            </a: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into the image.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343400" y="3346704"/>
            <a:ext cx="717804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BCD8F2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0" y="3630168"/>
            <a:ext cx="640080" cy="640080"/>
          </a:xfrm>
          <a:prstGeom prst="ellipse">
            <a:avLst/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8421" y="379658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94960" y="349300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Vault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5394960" y="3895344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payload, verifies it, decrypts and </a:t>
            </a: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recovers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original file.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4343400" y="4681728"/>
            <a:ext cx="717804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BCD8F2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72000" y="4965192"/>
            <a:ext cx="640080" cy="640080"/>
          </a:xfrm>
          <a:prstGeom prst="ellipse">
            <a:avLst/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421" y="5131613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94960" y="482803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Format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394960" y="5230368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versioned format with magic bytes, encrypted filename and file data.</a:t>
            </a:r>
            <a:endParaRPr lang="en-US" sz="1400" dirty="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378546DF-069F-9A98-DCD9-6895582CAD01}"/>
              </a:ext>
            </a:extLst>
          </p:cNvPr>
          <p:cNvSpPr/>
          <p:nvPr/>
        </p:nvSpPr>
        <p:spPr>
          <a:xfrm>
            <a:off x="1417320" y="1193292"/>
            <a:ext cx="4253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E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Murathan GÜRBÜZ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BCD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Graphical Interface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383280" cy="4160520"/>
          </a:xfrm>
          <a:prstGeom prst="roundRect">
            <a:avLst>
              <a:gd name="adj" fmla="val 4324"/>
            </a:avLst>
          </a:prstGeom>
          <a:solidFill>
            <a:srgbClr val="234E78"/>
          </a:solidFill>
          <a:ln w="12700">
            <a:solidFill>
              <a:srgbClr val="234E78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83080" y="2514600"/>
            <a:ext cx="1097280" cy="1097280"/>
          </a:xfrm>
          <a:prstGeom prst="ellipse">
            <a:avLst/>
          </a:prstGeom>
          <a:solidFill>
            <a:srgbClr val="356494"/>
          </a:solidFill>
          <a:ln w="12700">
            <a:solidFill>
              <a:srgbClr val="356494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373" y="2799893"/>
            <a:ext cx="526694" cy="5266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794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Graphical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868680" y="443484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BC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desktop interface built with Qt6, usable without technical knowledge.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3400" y="2011680"/>
            <a:ext cx="717804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BCD8F2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2295144"/>
            <a:ext cx="640080" cy="640080"/>
          </a:xfrm>
          <a:prstGeom prst="ellipse">
            <a:avLst/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421" y="2461565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2157984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Window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394960" y="2560320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layout with action buttons, a live image preview and capacity info.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343400" y="3346704"/>
            <a:ext cx="717804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BCD8F2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0" y="3630168"/>
            <a:ext cx="640080" cy="640080"/>
          </a:xfrm>
          <a:prstGeom prst="ellipse">
            <a:avLst/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8421" y="379658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94960" y="349300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Dialog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5394960" y="3895344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carrier image and a secret file, enter a password and embed.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4343400" y="4681728"/>
            <a:ext cx="717804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BCD8F2"/>
            </a:solidFill>
            <a:prstDash val="solid"/>
          </a:ln>
          <a:effectLst>
            <a:outerShdw blurRad="114300" dist="38100" dir="5400000" algn="bl" rotWithShape="0">
              <a:srgbClr val="9FBEDC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72000" y="4965192"/>
            <a:ext cx="640080" cy="640080"/>
          </a:xfrm>
          <a:prstGeom prst="ellipse">
            <a:avLst/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8421" y="5131613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94960" y="482803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Dialog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394960" y="5230368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stego image, enter the password and recover the file.</a:t>
            </a:r>
            <a:endParaRPr lang="en-US" sz="1400" dirty="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5269F953-CB80-6197-CA1F-E6B23DB6CE64}"/>
              </a:ext>
            </a:extLst>
          </p:cNvPr>
          <p:cNvSpPr/>
          <p:nvPr/>
        </p:nvSpPr>
        <p:spPr>
          <a:xfrm>
            <a:off x="1417320" y="1193292"/>
            <a:ext cx="4253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E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Hasan Berk SELÇUK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4E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4770922" y="2148840"/>
            <a:ext cx="26501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SISFA</a:t>
            </a:r>
            <a:endParaRPr kumimoji="0" lang="en-US" sz="8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5011152" y="3429802"/>
            <a:ext cx="2139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CD8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Demo Showcase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9050926E-1112-699A-84CF-1BE8A4C2F5BE}"/>
              </a:ext>
            </a:extLst>
          </p:cNvPr>
          <p:cNvSpPr/>
          <p:nvPr/>
        </p:nvSpPr>
        <p:spPr>
          <a:xfrm>
            <a:off x="3949365" y="4058652"/>
            <a:ext cx="4293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CD8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You can try it on your own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3AE44A14-51D9-E0E3-538C-E036AFDA3DCE}"/>
              </a:ext>
            </a:extLst>
          </p:cNvPr>
          <p:cNvSpPr/>
          <p:nvPr/>
        </p:nvSpPr>
        <p:spPr>
          <a:xfrm>
            <a:off x="2705399" y="4687502"/>
            <a:ext cx="67507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https://github.com/vuxenn1/sisfa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1084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831</Words>
  <Application>Microsoft Office PowerPoint</Application>
  <PresentationFormat>Widescreen</PresentationFormat>
  <Paragraphs>155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SISFA</dc:title>
  <dc:subject>PptxGenJS Presentation</dc:subject>
  <dc:creator>SISFA Team</dc:creator>
  <cp:lastModifiedBy>Nuri Yalçın</cp:lastModifiedBy>
  <cp:revision>61</cp:revision>
  <dcterms:created xsi:type="dcterms:W3CDTF">2026-06-11T16:32:55Z</dcterms:created>
  <dcterms:modified xsi:type="dcterms:W3CDTF">2026-06-12T08:53:00Z</dcterms:modified>
</cp:coreProperties>
</file>